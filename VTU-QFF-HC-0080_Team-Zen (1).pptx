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3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7" Type="http://schemas.openxmlformats.org/officeDocument/2006/relationships/image" Target="../media/circuit_su2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Relationship Id="rId7" Type="http://schemas.openxmlformats.org/officeDocument/2006/relationships/hyperlink" Target="https://github.com/vtu-qiskit-fall-fest-2026/vtu-hc-team-zen" TargetMode="External" /><Relationship Id="rId8" Type="http://schemas.openxmlformats.org/officeDocument/2006/relationships/hyperlink" Target="https://youtu.be/m1S8iygIWbk?si=yAhUr3WvJtQ_zGrz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Quantum-Classical Urban Mobility Analysis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4: Quantum + AI &amp; ML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Zen  ·  VTU-QFF-HC-0080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Channaveer (Channaveer06)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channaveer06@gmail.com</a:t>
            </a:r>
            <a:endParaRPr lang="en-US" sz="9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8073790832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Mallikarjun (mallugze)  ·  Akhilesh (akhilesh488-byte)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Poojya Doddappa Appa College of Engineering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80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satellite imagery segmentation for road network extraction demands massive computational overhead, creating severe parameter bottlenecks in classical deep learning models.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computational bottlenecks limit real-time processing capabilities for urban disaster management and Earth observation, restricting scalability on standard GPU hardware.</a:t>
            </a:r>
            <a:endParaRPr lang="en-US" sz="14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Mobility &amp; Disaster Route Resilience using Satellite Intelligence.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80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hybrid architecture combining deep learning spatial encoders with quantum computing principles to process satellite imagery efficiently.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heavy classical bottleneck layers with Variational Quantum Circuits (VQCs) to compress spatial feature dimensions without losing semantic road segmentation accuracy.</a:t>
            </a:r>
            <a:endParaRPr lang="en-US" sz="14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quantum computing with practical computer vision for civil infrastructure mapping and emergency logistics.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80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Quantum-Classical U-Net architecture built using Qiskit and PyTorch.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Workflow: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upload raw satellite imagery via our Streamlit web interface (app.py) → Model processes features through quantum layers → Generates precise road extraction masks.</a:t>
            </a:r>
            <a:endParaRPr lang="en-US" sz="14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quantum superposition and entanglement properties in the VQC bottleneck to map high-dimensional spatial data into compact quantum states, drastically reducing parameter counts while maintaining high Dice evaluation scores.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874519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200" dirty="0"/>
          </a:p>
          <a:p>
            <a:pPr marL="228600" indent="-22860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</a:t>
            </a: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convolutional layers extracting spatial feature maps.</a:t>
            </a:r>
            <a:endParaRPr lang="en-US" sz="1100" dirty="0"/>
          </a:p>
          <a:p>
            <a:pPr marL="228600" indent="-22860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Bottleneck: </a:t>
            </a: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Quantum Circuit (PQC) utilizing Qiskit (EfficientSU2 / RealAmplitudes ansatz) with angle encoding.</a:t>
            </a:r>
            <a:endParaRPr lang="en-US" sz="1100" dirty="0"/>
          </a:p>
          <a:p>
            <a:pPr marL="228600" indent="-228600" algn="l"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</a:t>
            </a: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Dual-attention skip connections reconstructing the segmentation mask.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40" name="Circuit diagram" descr="EfficientSU2 ansatz circuit, 4 qubits, reps=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783080"/>
            <a:ext cx="4480560" cy="1654612"/>
          </a:xfrm>
          <a:prstGeom prst="rect">
            <a:avLst/>
          </a:prstGeom>
        </p:spPr>
      </p:pic>
      <p:sp>
        <p:nvSpPr>
          <p:cNvPr id="41" name="Code snippet"/>
          <p:cNvSpPr txBox="1"/>
          <p:nvPr/>
        </p:nvSpPr>
        <p:spPr>
          <a:xfrm>
            <a:off x="731520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2E1B5B"/>
                </a:solidFill>
                <a:latin typeface="Courier New" pitchFamily="49" charset="0"/>
                <a:cs typeface="Courier New" pitchFamily="49" charset="0"/>
              </a:rPr>
              <a:t># Core Quantum Circuit Ansatz Integration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2E1B5B"/>
                </a:solidFill>
                <a:latin typeface="Courier New" pitchFamily="49" charset="0"/>
                <a:cs typeface="Courier New" pitchFamily="49" charset="0"/>
              </a:rPr>
              <a:t>num_qubits = 4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2E1B5B"/>
                </a:solidFill>
                <a:latin typeface="Courier New" pitchFamily="49" charset="0"/>
                <a:cs typeface="Courier New" pitchFamily="49" charset="0"/>
              </a:rPr>
              <a:t>ansatz = EfficientSU2(num_qubits, reps=2)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2E1B5B"/>
                </a:solidFill>
                <a:latin typeface="Courier New" pitchFamily="49" charset="0"/>
                <a:cs typeface="Courier New" pitchFamily="49" charset="0"/>
              </a:rPr>
              <a:t>qc = QuantumCircuit(num_qubits)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2E1B5B"/>
                </a:solidFill>
                <a:latin typeface="Courier New" pitchFamily="49" charset="0"/>
                <a:cs typeface="Courier New" pitchFamily="49" charset="0"/>
              </a:rPr>
              <a:t>qc.compose(ansatz, inplace=True)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80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9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Core Frameworks: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3.11+, PyTorch, Torchvision</a:t>
            </a:r>
            <a:endParaRPr lang="en-US" sz="1400" dirty="0"/>
          </a:p>
          <a:p>
            <a:pPr marL="228600" indent="-228600" algn="l">
              <a:spcAft>
                <a:spcPts val="9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SDK: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&gt;=1.0, Qiskit Machine Learning (TorchConnector), Qiskit Aer</a:t>
            </a:r>
            <a:endParaRPr lang="en-US" sz="1400" dirty="0"/>
          </a:p>
          <a:p>
            <a:pPr marL="228600" indent="-228600" algn="l">
              <a:spcAft>
                <a:spcPts val="9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Visualization: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(Light-themed dashboard matching ISRO project design standards)</a:t>
            </a:r>
            <a:endParaRPr lang="en-US" sz="1400" dirty="0"/>
          </a:p>
          <a:p>
            <a:pPr marL="228600" indent="-228600" algn="l">
              <a:spcAft>
                <a:spcPts val="9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Training: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optimizer, Binary Cross-Entropy Loss, executed on local/cloud GPU environments</a:t>
            </a:r>
            <a:endParaRPr lang="en-US" sz="1400" dirty="0"/>
          </a:p>
          <a:p>
            <a:pPr marL="228600" indent="-228600" algn="l"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(vtu-hc-team-zen)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874519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Performance: </a:t>
            </a: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convergence across ISRO satellite image datasets, with average training loss dropping efficiently from 0.1835 (Epoch 1) down to 0.0702 (Epoch 3).</a:t>
            </a:r>
            <a:endParaRPr lang="en-US" sz="1100" dirty="0"/>
          </a:p>
          <a:p>
            <a:pPr marL="228600" indent="-22860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</a:t>
            </a: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overlap accuracy measured via the Dice similarity coefficient and Intersection over Union (IoU).</a:t>
            </a:r>
            <a:endParaRPr lang="en-US" sz="1100" dirty="0"/>
          </a:p>
          <a:p>
            <a:pPr marL="228600" indent="-228600" algn="l"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Output: </a:t>
            </a: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outputs clean binary road masks separating complex background noise from actual transit paths.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sp>
        <p:nvSpPr>
          <p:cNvPr id="40" name="Loss header"/>
          <p:cNvSpPr txBox="1"/>
          <p:nvPr/>
        </p:nvSpPr>
        <p:spPr>
          <a:xfrm>
            <a:off x="731520" y="1874519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Training Loss</a:t>
            </a:r>
            <a:endParaRPr lang="en-US" sz="1200" dirty="0"/>
          </a:p>
        </p:txBody>
      </p:sp>
      <p:sp>
        <p:nvSpPr>
          <p:cNvPr id="41" name="Loss epoch 1"/>
          <p:cNvSpPr txBox="1"/>
          <p:nvPr/>
        </p:nvSpPr>
        <p:spPr>
          <a:xfrm>
            <a:off x="73152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0.1835</a:t>
            </a:r>
            <a:endParaRPr lang="en-US" sz="36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</a:t>
            </a:r>
            <a:endParaRPr lang="en-US" sz="1200" dirty="0"/>
          </a:p>
        </p:txBody>
      </p:sp>
      <p:sp>
        <p:nvSpPr>
          <p:cNvPr id="42" name="Loss arrow"/>
          <p:cNvSpPr txBox="1"/>
          <p:nvPr/>
        </p:nvSpPr>
        <p:spPr>
          <a:xfrm>
            <a:off x="2606040" y="2468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43" name="Loss epoch 3"/>
          <p:cNvSpPr txBox="1"/>
          <p:nvPr/>
        </p:nvSpPr>
        <p:spPr>
          <a:xfrm>
            <a:off x="329184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0.0702</a:t>
            </a:r>
            <a:endParaRPr lang="en-US" sz="36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3</a:t>
            </a:r>
            <a:endParaRPr lang="en-US" sz="1200" dirty="0"/>
          </a:p>
        </p:txBody>
      </p:sp>
      <p:sp>
        <p:nvSpPr>
          <p:cNvPr id="44" name="Loss caption"/>
          <p:cNvSpPr txBox="1"/>
          <p:nvPr/>
        </p:nvSpPr>
        <p:spPr>
          <a:xfrm>
            <a:off x="731520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convergence achieved across ISRO satellite image datasets.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80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route recovery planning during natural disasters (e.g., floods or earthquakes) by instantly mapping passable roads from post-disaster satellite feeds.</a:t>
            </a:r>
            <a:endParaRPr lang="en-US" sz="1400" dirty="0"/>
          </a:p>
          <a:p>
            <a:pPr marL="228600" indent="-228600" algn="l"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Infrastructure: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automated geographic information system (GIS) updates and municipal urban planning without requiring expensive supercomputing infrastructure.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80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Overcome: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tensor-to-quantum state conversions and ensuring stable gradient backpropagation through the hybrid PyTorch-Qiskit connector.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</a:t>
            </a:r>
            <a:endParaRPr lang="en-US" sz="1400" dirty="0"/>
          </a:p>
          <a:p>
            <a:pPr marL="228600" indent="-22860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the quantum circuit from local Qiskit Aer simulators to real IBM Quantum hardware processors via Qiskit Runtime primitives.</a:t>
            </a:r>
            <a:endParaRPr lang="en-US" sz="1400" dirty="0"/>
          </a:p>
          <a:p>
            <a:pPr marL="228600" indent="-228600" algn="l"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graph-theoretic routing engines to calculate cascading traffic delays upon road blockages.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Qiskit for the VTU-QFF Hackathon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VTU-QFF-HC-0080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vtu-hc-team-zen (GitHub)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Watch demo video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