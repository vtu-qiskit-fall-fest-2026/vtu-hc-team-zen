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A1F8C-B10B-C84D-94FC-B3DA01C1C20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02761-92A6-8544-9B98-D45CEE3CC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36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3.png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7" Type="http://schemas.openxmlformats.org/officeDocument/2006/relationships/image" Target="../media/image6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  <p:pic>
        <p:nvPicPr>
          <p:cNvPr id="19" name="Image 3" descr="sphe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822960"/>
            <a:ext cx="777240" cy="777240"/>
          </a:xfrm>
          <a:prstGeom prst="rect">
            <a:avLst/>
          </a:prstGeom>
        </p:spPr>
      </p:pic>
      <p:pic>
        <p:nvPicPr>
          <p:cNvPr id="20" name="Image 4" descr="bir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868680"/>
            <a:ext cx="548640" cy="329184"/>
          </a:xfrm>
          <a:prstGeom prst="rect">
            <a:avLst/>
          </a:prstGeom>
        </p:spPr>
      </p:pic>
      <p:pic>
        <p:nvPicPr>
          <p:cNvPr id="21" name="Image 5" descr="bir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1261872"/>
            <a:ext cx="384048" cy="228600"/>
          </a:xfrm>
          <a:prstGeom prst="rect">
            <a:avLst/>
          </a:prstGeom>
        </p:spPr>
      </p:pic>
      <p:sp>
        <p:nvSpPr>
          <p:cNvPr id="2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7.png" /><Relationship Id="rId5" Type="http://schemas.openxmlformats.org/officeDocument/2006/relationships/image" Target="../media/image6.png" /><Relationship Id="rId4" Type="http://schemas.openxmlformats.org/officeDocument/2006/relationships/image" Target="../media/image5.png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3.xml" /></Relationships>
</file>

<file path=ppt/slides/_rels/slide5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3.xml" /><Relationship Id="rId7" Type="http://schemas.openxmlformats.org/officeDocument/2006/relationships/image" Target="../media/circuit_su2.png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3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3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3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3.xml" 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7.png" /><Relationship Id="rId5" Type="http://schemas.openxmlformats.org/officeDocument/2006/relationships/image" Target="../media/image6.png" /><Relationship Id="rId4" Type="http://schemas.openxmlformats.org/officeDocument/2006/relationships/image" Target="../media/image5.png" /><Relationship Id="rId7" Type="http://schemas.openxmlformats.org/officeDocument/2006/relationships/hyperlink" Target="https://github.com/vtu-qiskit-fall-fest-2026/vtu-hc-team-zen" TargetMode="External" /><Relationship Id="rId8" Type="http://schemas.openxmlformats.org/officeDocument/2006/relationships/hyperlink" Target="https://drive.google.com/file/d/1FDqH3B4nwA4oN1TbTivbK8Ycbf0VyqqJ/view?usp=drivesdk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PRESENTATION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Qiskit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 Fest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· Team Details</a:t>
            </a:r>
            <a:endParaRPr lang="en-US" sz="1300" dirty="0"/>
          </a:p>
        </p:txBody>
      </p:sp>
      <p:pic>
        <p:nvPicPr>
          <p:cNvPr id="5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91840"/>
            <a:ext cx="1371600" cy="1371600"/>
          </a:xfrm>
          <a:prstGeom prst="rect">
            <a:avLst/>
          </a:prstGeom>
        </p:spPr>
      </p:pic>
      <p:pic>
        <p:nvPicPr>
          <p:cNvPr id="6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3429000"/>
            <a:ext cx="731520" cy="438912"/>
          </a:xfrm>
          <a:prstGeom prst="rect">
            <a:avLst/>
          </a:prstGeom>
        </p:spPr>
      </p:pic>
      <p:pic>
        <p:nvPicPr>
          <p:cNvPr id="7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3977640"/>
            <a:ext cx="502920" cy="301752"/>
          </a:xfrm>
          <a:prstGeom prst="rect">
            <a:avLst/>
          </a:prstGeom>
        </p:spPr>
      </p:pic>
      <p:pic>
        <p:nvPicPr>
          <p:cNvPr id="8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720" y="4297680"/>
            <a:ext cx="384048" cy="228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023360" y="8412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 Details</a:t>
            </a:r>
            <a:endParaRPr lang="en-US" sz="1600" dirty="0"/>
          </a:p>
        </p:txBody>
      </p:sp>
      <p:sp>
        <p:nvSpPr>
          <p:cNvPr id="10" name="Field: PROJECT TITLE"/>
          <p:cNvSpPr/>
          <p:nvPr/>
        </p:nvSpPr>
        <p:spPr>
          <a:xfrm>
            <a:off x="4023360" y="1261872"/>
            <a:ext cx="46634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Quantum-Classical Urban Mobility Analysis</a:t>
            </a:r>
            <a:endParaRPr lang="en-US" sz="900" dirty="0"/>
          </a:p>
        </p:txBody>
      </p:sp>
      <p:sp>
        <p:nvSpPr>
          <p:cNvPr id="11" name="Field: TRACK"/>
          <p:cNvSpPr/>
          <p:nvPr/>
        </p:nvSpPr>
        <p:spPr>
          <a:xfrm>
            <a:off x="402336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4: Quantum + AI &amp; ML</a:t>
            </a:r>
            <a:endParaRPr lang="en-US" sz="900" dirty="0"/>
          </a:p>
        </p:txBody>
      </p:sp>
      <p:sp>
        <p:nvSpPr>
          <p:cNvPr id="12" name="Field: TEAM NAME"/>
          <p:cNvSpPr/>
          <p:nvPr/>
        </p:nvSpPr>
        <p:spPr>
          <a:xfrm>
            <a:off x="640080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Zen  ·  VTU-QFF-HC-0080</a:t>
            </a:r>
            <a:endParaRPr lang="en-US" sz="900" dirty="0"/>
          </a:p>
        </p:txBody>
      </p:sp>
      <p:sp>
        <p:nvSpPr>
          <p:cNvPr id="13" name="Field: TEAM LEADER"/>
          <p:cNvSpPr/>
          <p:nvPr/>
        </p:nvSpPr>
        <p:spPr>
          <a:xfrm>
            <a:off x="402336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Channaveer (Channaveer06)</a:t>
            </a:r>
            <a:endParaRPr lang="en-US" sz="900" dirty="0"/>
          </a:p>
        </p:txBody>
      </p:sp>
      <p:sp>
        <p:nvSpPr>
          <p:cNvPr id="14" name="Field: EMAIL / CONTACT"/>
          <p:cNvSpPr/>
          <p:nvPr/>
        </p:nvSpPr>
        <p:spPr>
          <a:xfrm>
            <a:off x="640080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CONTACT</a:t>
            </a:r>
            <a:endParaRPr lang="en-US" sz="9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9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channaveer06@gmail.com</a:t>
            </a:r>
            <a:endParaRPr lang="en-US" sz="9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9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8073790832</a:t>
            </a:r>
            <a:endParaRPr lang="en-US" sz="900" dirty="0"/>
          </a:p>
        </p:txBody>
      </p:sp>
      <p:sp>
        <p:nvSpPr>
          <p:cNvPr id="15" name="Field: TEAM MEMBERS"/>
          <p:cNvSpPr/>
          <p:nvPr/>
        </p:nvSpPr>
        <p:spPr>
          <a:xfrm>
            <a:off x="4023360" y="3072384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Mallikarjun (mallugze)  ·  Akhilesh (akhilesh488-byte)</a:t>
            </a:r>
            <a:endParaRPr lang="en-US" sz="900" dirty="0"/>
          </a:p>
        </p:txBody>
      </p:sp>
      <p:sp>
        <p:nvSpPr>
          <p:cNvPr id="16" name="Field: INSTITUTION / ORGANISATION"/>
          <p:cNvSpPr/>
          <p:nvPr/>
        </p:nvSpPr>
        <p:spPr>
          <a:xfrm>
            <a:off x="402336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/ ORGANISATION</a:t>
            </a:r>
            <a:endParaRPr lang="en-US" sz="9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9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Poojya Doddappa Appa College of Engineering</a:t>
            </a:r>
            <a:endParaRPr lang="en-US" sz="900" dirty="0"/>
          </a:p>
        </p:txBody>
      </p:sp>
      <p:sp>
        <p:nvSpPr>
          <p:cNvPr id="17" name="Field: COUNTRY"/>
          <p:cNvSpPr/>
          <p:nvPr/>
        </p:nvSpPr>
        <p:spPr>
          <a:xfrm>
            <a:off x="640080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19"/>
            <a:ext cx="7680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High-resolution satellite imagery segmentation for road network extraction demands massive computational overhead, creating severe parameter bottlenecks in classical deep learning models.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computational bottlenecks limit real-time processing capabilities for urban disaster management and Earth observation, restricting scalability on standard GPU hardware.</a:t>
            </a:r>
            <a:endParaRPr lang="en-US" sz="14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Mobility &amp; Disaster Route Resilience using Satellite Intelligence.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 &amp; Novelty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19"/>
            <a:ext cx="7680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hybrid architecture combining deep learning spatial encoders with quantum computing principles to process satellite imagery efficiently.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heavy classical bottleneck layers with Variational Quantum Circuits (VQCs) to compress spatial feature dimensions without losing semantic road segmentation accuracy.</a:t>
            </a:r>
            <a:endParaRPr lang="en-US" sz="14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quantum computing with practical computer vision for civil infrastructure mapping and emergency logistics.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&amp; Quantum Advantage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19"/>
            <a:ext cx="7680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Quantum-Classical U-Net architecture built using Qiskit and PyTorch.</a:t>
            </a:r>
            <a:endParaRPr lang="en-US" sz="14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Workflow: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upload raw satellite imagery via our Streamlit web interface (app.py) → Model processes features through quantum layers → Generates precise road extraction masks.</a:t>
            </a:r>
            <a:endParaRPr lang="en-US" sz="14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Advantage: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quantum superposition and entanglement properties in the VQC bottleneck to map high-dimensional spatial data into compact quantum states, drastically reducing parameter counts while maintaining high Dice evaluation scores.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&amp; Circuit Design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1874519"/>
            <a:ext cx="27432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</a:t>
            </a:r>
            <a:endParaRPr lang="en-US" sz="1200" dirty="0"/>
          </a:p>
          <a:p>
            <a:pPr marL="228600" indent="-22860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Encoder: </a:t>
            </a:r>
            <a:r>
              <a:rPr lang="en-US" sz="11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convolutional layers extracting spatial feature maps.</a:t>
            </a:r>
            <a:endParaRPr lang="en-US" sz="1100" dirty="0"/>
          </a:p>
          <a:p>
            <a:pPr marL="228600" indent="-22860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Bottleneck: </a:t>
            </a:r>
            <a:r>
              <a:rPr lang="en-US" sz="11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Quantum Circuit (PQC) utilizing Qiskit (EfficientSU2 / RealAmplitudes ansatz) with angle encoding.</a:t>
            </a:r>
            <a:endParaRPr lang="en-US" sz="1100" dirty="0"/>
          </a:p>
          <a:p>
            <a:pPr marL="228600" indent="-228600" algn="l">
              <a:spcAft>
                <a:spcPts val="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Decoder: </a:t>
            </a:r>
            <a:r>
              <a:rPr lang="en-US" sz="11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Dual-attention skip connections reconstructing the segmentation mask.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  <p:pic>
        <p:nvPicPr>
          <p:cNvPr id="40" name="Circuit diagram" descr="EfficientSU2 ansatz circuit, 4 qubits, reps=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783080"/>
            <a:ext cx="4480560" cy="1654612"/>
          </a:xfrm>
          <a:prstGeom prst="rect">
            <a:avLst/>
          </a:prstGeom>
        </p:spPr>
      </p:pic>
      <p:sp>
        <p:nvSpPr>
          <p:cNvPr id="41" name="Code snippet"/>
          <p:cNvSpPr txBox="1"/>
          <p:nvPr/>
        </p:nvSpPr>
        <p:spPr>
          <a:xfrm>
            <a:off x="731520" y="3611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dirty="0">
                <a:solidFill>
                  <a:srgbClr val="2E1B5B"/>
                </a:solidFill>
                <a:latin typeface="Courier New" pitchFamily="49" charset="0"/>
                <a:cs typeface="Courier New" pitchFamily="49" charset="0"/>
              </a:rPr>
              <a:t># Core Quantum Circuit Ansatz Integration</a:t>
            </a:r>
            <a:endParaRPr lang="en-US" sz="10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000" dirty="0">
                <a:solidFill>
                  <a:srgbClr val="2E1B5B"/>
                </a:solidFill>
                <a:latin typeface="Courier New" pitchFamily="49" charset="0"/>
                <a:cs typeface="Courier New" pitchFamily="49" charset="0"/>
              </a:rPr>
              <a:t>num_qubits = 4</a:t>
            </a:r>
            <a:endParaRPr lang="en-US" sz="10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000" dirty="0">
                <a:solidFill>
                  <a:srgbClr val="2E1B5B"/>
                </a:solidFill>
                <a:latin typeface="Courier New" pitchFamily="49" charset="0"/>
                <a:cs typeface="Courier New" pitchFamily="49" charset="0"/>
              </a:rPr>
              <a:t>ansatz = EfficientSU2(num_qubits, reps=2)</a:t>
            </a:r>
            <a:endParaRPr lang="en-US" sz="10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000" dirty="0">
                <a:solidFill>
                  <a:srgbClr val="2E1B5B"/>
                </a:solidFill>
                <a:latin typeface="Courier New" pitchFamily="49" charset="0"/>
                <a:cs typeface="Courier New" pitchFamily="49" charset="0"/>
              </a:rPr>
              <a:t>qc = QuantumCircuit(num_qubits)</a:t>
            </a:r>
            <a:endParaRPr lang="en-US" sz="10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000" dirty="0">
                <a:solidFill>
                  <a:srgbClr val="2E1B5B"/>
                </a:solidFill>
                <a:latin typeface="Courier New" pitchFamily="49" charset="0"/>
                <a:cs typeface="Courier New" pitchFamily="49" charset="0"/>
              </a:rPr>
              <a:t>qc.compose(ansatz, inplace=True)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&amp; Tech Stack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19"/>
            <a:ext cx="7680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9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Core Frameworks: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3.11+, PyTorch, Torchvision</a:t>
            </a:r>
            <a:endParaRPr lang="en-US" sz="1400" dirty="0"/>
          </a:p>
          <a:p>
            <a:pPr marL="228600" indent="-228600" algn="l">
              <a:spcAft>
                <a:spcPts val="9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SDK: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&gt;=1.0, Qiskit Machine Learning (TorchConnector), Qiskit Aer</a:t>
            </a:r>
            <a:endParaRPr lang="en-US" sz="1400" dirty="0"/>
          </a:p>
          <a:p>
            <a:pPr marL="228600" indent="-228600" algn="l">
              <a:spcAft>
                <a:spcPts val="9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Visualization: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(Light-themed dashboard matching ISRO project design standards)</a:t>
            </a:r>
            <a:endParaRPr lang="en-US" sz="1400" dirty="0"/>
          </a:p>
          <a:p>
            <a:pPr marL="228600" indent="-228600" algn="l">
              <a:spcAft>
                <a:spcPts val="9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&amp; Training: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optimizer, Binary Cross-Entropy Loss, executed on local/cloud GPU environments</a:t>
            </a:r>
            <a:endParaRPr lang="en-US" sz="1400" dirty="0"/>
          </a:p>
          <a:p>
            <a:pPr marL="228600" indent="-228600" algn="l">
              <a:spcAft>
                <a:spcPts val="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(vtu-hc-team-zen)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Analysis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1874519"/>
            <a:ext cx="27432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Performance: </a:t>
            </a:r>
            <a:r>
              <a:rPr lang="en-US" sz="11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convergence across ISRO satellite image datasets, with average training loss dropping efficiently from 0.1835 (Epoch 1) down to 0.0702 (Epoch 3).</a:t>
            </a:r>
            <a:endParaRPr lang="en-US" sz="1100" dirty="0"/>
          </a:p>
          <a:p>
            <a:pPr marL="228600" indent="-22860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Metrics: </a:t>
            </a:r>
            <a:r>
              <a:rPr lang="en-US" sz="11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overlap accuracy measured via the Dice similarity coefficient and Intersection over Union (IoU).</a:t>
            </a:r>
            <a:endParaRPr lang="en-US" sz="1100" dirty="0"/>
          </a:p>
          <a:p>
            <a:pPr marL="228600" indent="-228600" algn="l">
              <a:spcAft>
                <a:spcPts val="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Output: </a:t>
            </a:r>
            <a:r>
              <a:rPr lang="en-US" sz="11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outputs clean binary road masks separating complex background noise from actual transit paths.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  <p:sp>
        <p:nvSpPr>
          <p:cNvPr id="40" name="Loss header"/>
          <p:cNvSpPr txBox="1"/>
          <p:nvPr/>
        </p:nvSpPr>
        <p:spPr>
          <a:xfrm>
            <a:off x="731520" y="1874519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Training Loss</a:t>
            </a:r>
            <a:endParaRPr lang="en-US" sz="1200" dirty="0"/>
          </a:p>
        </p:txBody>
      </p:sp>
      <p:sp>
        <p:nvSpPr>
          <p:cNvPr id="41" name="Loss epoch 1"/>
          <p:cNvSpPr txBox="1"/>
          <p:nvPr/>
        </p:nvSpPr>
        <p:spPr>
          <a:xfrm>
            <a:off x="731520" y="2468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36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0.1835</a:t>
            </a:r>
            <a:endParaRPr lang="en-US" sz="36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200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1</a:t>
            </a:r>
            <a:endParaRPr lang="en-US" sz="1200" dirty="0"/>
          </a:p>
        </p:txBody>
      </p:sp>
      <p:sp>
        <p:nvSpPr>
          <p:cNvPr id="42" name="Loss arrow"/>
          <p:cNvSpPr txBox="1"/>
          <p:nvPr/>
        </p:nvSpPr>
        <p:spPr>
          <a:xfrm>
            <a:off x="2606040" y="24688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43" name="Loss epoch 3"/>
          <p:cNvSpPr txBox="1"/>
          <p:nvPr/>
        </p:nvSpPr>
        <p:spPr>
          <a:xfrm>
            <a:off x="3291840" y="2468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3600" b="1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0.0702</a:t>
            </a:r>
            <a:endParaRPr lang="en-US" sz="36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200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3</a:t>
            </a:r>
            <a:endParaRPr lang="en-US" sz="1200" dirty="0"/>
          </a:p>
        </p:txBody>
      </p:sp>
      <p:sp>
        <p:nvSpPr>
          <p:cNvPr id="44" name="Loss caption"/>
          <p:cNvSpPr txBox="1"/>
          <p:nvPr/>
        </p:nvSpPr>
        <p:spPr>
          <a:xfrm>
            <a:off x="731520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convergence achieved across ISRO satellite image datasets.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Real-World Applications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19"/>
            <a:ext cx="7680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2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route recovery planning during natural disasters (e.g., floods or earthquakes) by instantly mapping passable roads from post-disaster satellite feeds.</a:t>
            </a:r>
            <a:endParaRPr lang="en-US" sz="1400" dirty="0"/>
          </a:p>
          <a:p>
            <a:pPr marL="228600" indent="-228600" algn="l">
              <a:spcAft>
                <a:spcPts val="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Infrastructure: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automated geographic information system (GIS) updates and municipal urban planning without requiring expensive supercomputing infrastructure.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Future Scope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19"/>
            <a:ext cx="7680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Overcome: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tensor-to-quantum state conversions and ensuring stable gradient backpropagation through the hybrid PyTorch-Qiskit connector.</a:t>
            </a:r>
            <a:endParaRPr lang="en-US" sz="14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</a:t>
            </a:r>
            <a:endParaRPr lang="en-US" sz="1400" dirty="0"/>
          </a:p>
          <a:p>
            <a:pPr marL="228600" indent="-22860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the quantum circuit from local Qiskit Aer simulators to real IBM Quantum hardware processors via Qiskit Runtime primitives.</a:t>
            </a:r>
            <a:endParaRPr lang="en-US" sz="1400" dirty="0"/>
          </a:p>
          <a:p>
            <a:pPr marL="228600" indent="-228600" algn="l">
              <a:spcAft>
                <a:spcPts val="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graph-theoretic routing engines to calculate cascading traffic delays upon road blockages.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Qiskit for the VTU-QFF Hackathon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VTU-QFF-HC-0080</a:t>
            </a:r>
            <a:endParaRPr lang="en-US" sz="1300" dirty="0"/>
          </a:p>
        </p:txBody>
      </p:sp>
      <p:sp>
        <p:nvSpPr>
          <p:cNvPr id="5" name="Field: GITHUB REPOSITORY"/>
          <p:cNvSpPr/>
          <p:nvPr/>
        </p:nvSpPr>
        <p:spPr>
          <a:xfrm>
            <a:off x="45720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9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vtu-hc-team-zen (GitHub)</a:t>
            </a:r>
            <a:endParaRPr lang="en-US" sz="900" dirty="0"/>
          </a:p>
        </p:txBody>
      </p:sp>
      <p:sp>
        <p:nvSpPr>
          <p:cNvPr id="6" name="Field: DEMO VIDEO LINK"/>
          <p:cNvSpPr/>
          <p:nvPr/>
        </p:nvSpPr>
        <p:spPr>
          <a:xfrm>
            <a:off x="283464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LINK</a:t>
            </a:r>
            <a:endParaRPr lang="en-US" sz="9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/>
              </a:rPr>
              <a:t>Watch demo video</a:t>
            </a:r>
            <a:endParaRPr lang="en-US" sz="900" dirty="0"/>
          </a:p>
        </p:txBody>
      </p:sp>
      <p:pic>
        <p:nvPicPr>
          <p:cNvPr id="7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97280"/>
            <a:ext cx="3200400" cy="3200400"/>
          </a:xfrm>
          <a:prstGeom prst="rect">
            <a:avLst/>
          </a:prstGeom>
        </p:spPr>
      </p:pic>
      <p:pic>
        <p:nvPicPr>
          <p:cNvPr id="8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914400"/>
            <a:ext cx="822960" cy="493776"/>
          </a:xfrm>
          <a:prstGeom prst="rect">
            <a:avLst/>
          </a:prstGeom>
        </p:spPr>
      </p:pic>
      <p:pic>
        <p:nvPicPr>
          <p:cNvPr id="9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840480"/>
            <a:ext cx="548640" cy="329184"/>
          </a:xfrm>
          <a:prstGeom prst="rect">
            <a:avLst/>
          </a:prstGeom>
        </p:spPr>
      </p:pic>
      <p:pic>
        <p:nvPicPr>
          <p:cNvPr id="10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023360"/>
            <a:ext cx="457200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Qiskit Fall Fest">
  <a:themeElements>
    <a:clrScheme name="Qiskit Fall Fest">
      <a:dk1>
        <a:srgbClr val="2E1B5B"/>
      </a:dk1>
      <a:lt1>
        <a:srgbClr val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Qiskit Fall Fes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